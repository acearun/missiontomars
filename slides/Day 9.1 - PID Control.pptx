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462" r:id="rId2"/>
    <p:sldId id="463" r:id="rId3"/>
    <p:sldId id="466" r:id="rId4"/>
    <p:sldId id="464" r:id="rId5"/>
    <p:sldId id="467" r:id="rId6"/>
    <p:sldId id="468" r:id="rId7"/>
    <p:sldId id="469" r:id="rId8"/>
    <p:sldId id="465" r:id="rId9"/>
    <p:sldId id="470" r:id="rId10"/>
    <p:sldId id="471" r:id="rId11"/>
    <p:sldId id="472" r:id="rId12"/>
    <p:sldId id="47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cearun@gmail.com" userId="45eccef0c200b126" providerId="LiveId" clId="{37E9682C-5603-D445-B89F-A949E93E7652}"/>
    <pc:docChg chg="undo custSel addSld modSld sldOrd">
      <pc:chgData name="acearun@gmail.com" userId="45eccef0c200b126" providerId="LiveId" clId="{37E9682C-5603-D445-B89F-A949E93E7652}" dt="2025-05-22T03:38:21.045" v="873" actId="20577"/>
      <pc:docMkLst>
        <pc:docMk/>
      </pc:docMkLst>
      <pc:sldChg chg="addSp delSp modSp mod setBg">
        <pc:chgData name="acearun@gmail.com" userId="45eccef0c200b126" providerId="LiveId" clId="{37E9682C-5603-D445-B89F-A949E93E7652}" dt="2025-05-22T02:56:45.311" v="19" actId="20577"/>
        <pc:sldMkLst>
          <pc:docMk/>
          <pc:sldMk cId="109857222" sldId="256"/>
        </pc:sldMkLst>
      </pc:sldChg>
      <pc:sldChg chg="modSp new mod">
        <pc:chgData name="acearun@gmail.com" userId="45eccef0c200b126" providerId="LiveId" clId="{37E9682C-5603-D445-B89F-A949E93E7652}" dt="2025-05-22T03:09:06.251" v="299" actId="20577"/>
        <pc:sldMkLst>
          <pc:docMk/>
          <pc:sldMk cId="2111535724" sldId="257"/>
        </pc:sldMkLst>
      </pc:sldChg>
      <pc:sldChg chg="addSp delSp modSp new mod ord setBg">
        <pc:chgData name="acearun@gmail.com" userId="45eccef0c200b126" providerId="LiveId" clId="{37E9682C-5603-D445-B89F-A949E93E7652}" dt="2025-05-22T03:38:21.045" v="873" actId="20577"/>
        <pc:sldMkLst>
          <pc:docMk/>
          <pc:sldMk cId="2327578849" sldId="258"/>
        </pc:sldMkLst>
      </pc:sldChg>
      <pc:sldChg chg="addSp delSp modSp new mod setBg">
        <pc:chgData name="acearun@gmail.com" userId="45eccef0c200b126" providerId="LiveId" clId="{37E9682C-5603-D445-B89F-A949E93E7652}" dt="2025-05-22T03:34:02.607" v="739" actId="14100"/>
        <pc:sldMkLst>
          <pc:docMk/>
          <pc:sldMk cId="3161866194" sldId="259"/>
        </pc:sldMkLst>
      </pc:sldChg>
    </pc:docChg>
  </pc:docChgLst>
  <pc:docChgLst>
    <pc:chgData name="acearun@gmail.com" userId="45eccef0c200b126" providerId="Windows Live" clId="Web-{761BA1A3-F66A-0DB7-E7E1-DCA613C1AB5A}"/>
    <pc:docChg chg="modSld">
      <pc:chgData name="acearun@gmail.com" userId="45eccef0c200b126" providerId="Windows Live" clId="Web-{761BA1A3-F66A-0DB7-E7E1-DCA613C1AB5A}" dt="2025-05-22T02:49:43.154" v="19" actId="20577"/>
      <pc:docMkLst>
        <pc:docMk/>
      </pc:docMkLst>
      <pc:sldChg chg="modSp">
        <pc:chgData name="acearun@gmail.com" userId="45eccef0c200b126" providerId="Windows Live" clId="Web-{761BA1A3-F66A-0DB7-E7E1-DCA613C1AB5A}" dt="2025-05-22T02:49:43.154" v="19" actId="20577"/>
        <pc:sldMkLst>
          <pc:docMk/>
          <pc:sldMk cId="109857222" sldId="25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256138-183B-284B-976E-4CBA97BE1611}" type="datetimeFigureOut">
              <a:rPr lang="en-US" smtClean="0"/>
              <a:t>2/10/26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8FF4C5-C440-A34B-BE70-81A53FE0C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540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8E1285-546A-A14D-895C-04B7B976F9E4}" type="datetime1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BB519BD-CDE5-274B-83E4-6AAD816FBC06}" type="datetime1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9F4166E-AC00-0F4C-8955-A0698DD08C63}" type="datetime1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3815860-39F3-D443-B6AD-0F6AD7562CD5}" type="datetime1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2B1CEDB-A4BB-2640-AA3E-587C8A77ED84}" type="datetime1">
              <a:rPr lang="en-US" smtClean="0"/>
              <a:t>2/10/26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365A92-F168-8441-9244-EDF48CDDD0B6}" type="datetime1">
              <a:rPr lang="en-US" smtClean="0"/>
              <a:t>2/10/26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1083FB7-6E1C-0946-ACF0-52F4BE014AA0}" type="datetime1">
              <a:rPr lang="en-US" smtClean="0"/>
              <a:t>2/10/26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CBB4DF-D373-D64F-8F81-30AF01283165}" type="datetime1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005C1CE-033E-AD4F-A979-6C78AEA13AA1}" type="datetime1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75F5DC4-EECD-E542-B00A-B4E4005251F5}" type="datetime1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459CD4-5AFA-E14A-A546-59DEBF0BA898}" type="datetime1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7139" y="6356350"/>
            <a:ext cx="110721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Mission to Mars – Build Your Own Robotic Rover © 2026 Arun Abraham. Free for non-commercial educational use. See MMCL-1.1 for licensing details.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e Future of Autonomous Driving Projects | Entrapeer">
            <a:extLst>
              <a:ext uri="{FF2B5EF4-FFF2-40B4-BE49-F238E27FC236}">
                <a16:creationId xmlns:a16="http://schemas.microsoft.com/office/drawing/2014/main" id="{EC472414-3439-5DF5-543B-977D1E4659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84" r="-1" b="-1"/>
          <a:stretch>
            <a:fillRect/>
          </a:stretch>
        </p:blipFill>
        <p:spPr bwMode="auto">
          <a:xfrm>
            <a:off x="5442857" y="0"/>
            <a:ext cx="8087288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3372" y="647750"/>
            <a:ext cx="4490629" cy="3692028"/>
          </a:xfrm>
          <a:noFill/>
        </p:spPr>
        <p:txBody>
          <a:bodyPr>
            <a:normAutofit/>
          </a:bodyPr>
          <a:lstStyle/>
          <a:p>
            <a:pPr algn="l"/>
            <a:r>
              <a:rPr lang="en-US" sz="5400" dirty="0"/>
              <a:t>PID Controllers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3373" y="4533537"/>
            <a:ext cx="3973386" cy="1485319"/>
          </a:xfrm>
          <a:noFill/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dirty="0"/>
              <a:t>Make Your Robots Move Smoothly and Accurately 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1A85C6-0FAD-019D-B658-A39B06C0A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7140" y="6186222"/>
            <a:ext cx="4615224" cy="365125"/>
          </a:xfrm>
        </p:spPr>
        <p:txBody>
          <a:bodyPr/>
          <a:lstStyle/>
          <a:p>
            <a:r>
              <a:rPr lang="en-US" dirty="0"/>
              <a:t>Licensing Notice: This curriculum is free for non-commercial educational use. Any paid program using this material requires a commercial license.</a:t>
            </a:r>
          </a:p>
          <a:p>
            <a:r>
              <a:rPr lang="en-US" dirty="0"/>
              <a:t>Contact: </a:t>
            </a:r>
            <a:r>
              <a:rPr lang="en-US" dirty="0" err="1"/>
              <a:t>contact@arunabraham.us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370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F6AAC-CE42-024B-59D9-4B0BCD2C0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Control Systems Matter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6F323-BC4C-E7C7-55F8-3F07009D4D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Rovers veer off track or overshoot</a:t>
            </a:r>
          </a:p>
          <a:p>
            <a:endParaRPr lang="en-US" dirty="0"/>
          </a:p>
          <a:p>
            <a:r>
              <a:rPr lang="en-US" dirty="0"/>
              <a:t>Control systems maintain desired behavior (speed, position, heading)</a:t>
            </a:r>
          </a:p>
          <a:p>
            <a:endParaRPr lang="en-US" dirty="0"/>
          </a:p>
          <a:p>
            <a:r>
              <a:rPr lang="en-US" dirty="0"/>
              <a:t>Like Adaptive Cruise Control in cars</a:t>
            </a:r>
          </a:p>
          <a:p>
            <a:endParaRPr lang="en-US" dirty="0"/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PID lets the robot 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self-correct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 using sensor feedback.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B79B6B-1E41-0862-ECE4-BF9D6000B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</p:spTree>
    <p:extLst>
      <p:ext uri="{BB962C8B-B14F-4D97-AF65-F5344CB8AC3E}">
        <p14:creationId xmlns:p14="http://schemas.microsoft.com/office/powerpoint/2010/main" val="2111535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BD9C5-E71B-F806-57D4-7132C377F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6B29E-4340-1868-D166-C364BA4BB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5578478" cy="1481328"/>
          </a:xfrm>
        </p:spPr>
        <p:txBody>
          <a:bodyPr anchor="b">
            <a:normAutofit/>
          </a:bodyPr>
          <a:lstStyle/>
          <a:p>
            <a:r>
              <a:rPr lang="en-US" sz="5400" dirty="0"/>
              <a:t>Errors in a System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2BDCE3-0895-59AD-DE6B-3E6D43E3BE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0935" y="2660904"/>
                <a:ext cx="9905929" cy="3547872"/>
              </a:xfrm>
            </p:spPr>
            <p:txBody>
              <a:bodyPr anchor="t"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2200">
                        <a:latin typeface="Cambria Math" panose="02040503050406030204" pitchFamily="18" charset="0"/>
                      </a:rPr>
                      <m:t>𝑒𝑟𝑟𝑜𝑟</m:t>
                    </m:r>
                    <m:r>
                      <a:rPr lang="en-US" sz="22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>
                        <a:latin typeface="Cambria Math" panose="02040503050406030204" pitchFamily="18" charset="0"/>
                      </a:rPr>
                      <m:t>𝑡𝑎𝑟𝑔𝑒𝑡</m:t>
                    </m:r>
                    <m:r>
                      <a:rPr lang="en-US" sz="220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200">
                        <a:latin typeface="Cambria Math" panose="02040503050406030204" pitchFamily="18" charset="0"/>
                      </a:rPr>
                      <m:t>𝑐𝑢𝑟𝑟𝑒𝑛𝑡</m:t>
                    </m:r>
                    <m:r>
                      <m:rPr>
                        <m:lit/>
                      </m:rPr>
                      <a:rPr lang="en-US" sz="220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2200">
                        <a:latin typeface="Cambria Math" panose="02040503050406030204" pitchFamily="18" charset="0"/>
                      </a:rPr>
                      <m:t>𝑝𝑜𝑠𝑖𝑡𝑖𝑜𝑛</m:t>
                    </m:r>
                  </m:oMath>
                </a14:m>
                <a:endParaRPr lang="en-US" sz="2200" dirty="0"/>
              </a:p>
              <a:p>
                <a:endParaRPr lang="en-US" sz="2200" dirty="0"/>
              </a:p>
              <a:p>
                <a:r>
                  <a:rPr lang="en-US" sz="2200" dirty="0"/>
                  <a:t> Examples:</a:t>
                </a:r>
              </a:p>
              <a:p>
                <a:pPr lvl="1"/>
                <a:r>
                  <a:rPr lang="en-US" sz="2200" dirty="0"/>
                  <a:t>Target heading = 90°, robot is 70° → error = 20°</a:t>
                </a:r>
              </a:p>
              <a:p>
                <a:pPr lvl="1"/>
                <a:r>
                  <a:rPr lang="en-US" sz="2200" dirty="0"/>
                  <a:t>Target arm angle = 500 ticks, current = 450 → error = 50</a:t>
                </a:r>
              </a:p>
              <a:p>
                <a:pPr marL="457200" lvl="1" indent="0">
                  <a:buNone/>
                </a:pPr>
                <a:endParaRPr lang="en-US" sz="1800" dirty="0"/>
              </a:p>
              <a:p>
                <a:r>
                  <a:rPr lang="en-US" sz="2200" dirty="0"/>
                  <a:t>PID is a smart way to respond to errors</a:t>
                </a:r>
                <a:endParaRPr lang="en-US" sz="2200" b="1" dirty="0"/>
              </a:p>
              <a:p>
                <a:pPr marL="0" indent="0">
                  <a:buNone/>
                </a:pPr>
                <a:endParaRPr lang="en-US" sz="2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2BDCE3-0895-59AD-DE6B-3E6D43E3BE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0935" y="2660904"/>
                <a:ext cx="9905929" cy="3547872"/>
              </a:xfrm>
              <a:blipFill>
                <a:blip r:embed="rId2"/>
                <a:stretch>
                  <a:fillRect l="-640" t="-17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D137BC-7BF6-8990-A4F3-43E440168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</p:spTree>
    <p:extLst>
      <p:ext uri="{BB962C8B-B14F-4D97-AF65-F5344CB8AC3E}">
        <p14:creationId xmlns:p14="http://schemas.microsoft.com/office/powerpoint/2010/main" val="1016135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931A4-E46A-79B9-4189-3BF9980A0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400" dirty="0"/>
              <a:t>PID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C9E9B-B6C5-5613-31D0-3BDB8D2A2E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US" sz="2200" dirty="0"/>
              <a:t>It’s a feedback control loop used to minimize </a:t>
            </a:r>
            <a:r>
              <a:rPr lang="en-US" sz="2200" b="1" dirty="0"/>
              <a:t>error</a:t>
            </a:r>
          </a:p>
          <a:p>
            <a:endParaRPr lang="en-US" sz="2200" b="1" dirty="0"/>
          </a:p>
          <a:p>
            <a:r>
              <a:rPr lang="en-US" sz="2200" b="1" dirty="0"/>
              <a:t>Proportional (P):</a:t>
            </a:r>
            <a:r>
              <a:rPr lang="en-US" sz="2200" dirty="0"/>
              <a:t> Responds to current error</a:t>
            </a:r>
          </a:p>
          <a:p>
            <a:r>
              <a:rPr lang="en-US" sz="2200" b="1" dirty="0"/>
              <a:t>Integral (I):</a:t>
            </a:r>
            <a:r>
              <a:rPr lang="en-US" sz="2200" dirty="0"/>
              <a:t> Fixes accumulated past error</a:t>
            </a:r>
          </a:p>
          <a:p>
            <a:r>
              <a:rPr lang="en-US" sz="2200" b="1" dirty="0"/>
              <a:t>Derivative (D):</a:t>
            </a:r>
            <a:r>
              <a:rPr lang="en-US" sz="2200" dirty="0"/>
              <a:t> Predicts future error</a:t>
            </a:r>
          </a:p>
          <a:p>
            <a:pPr marL="0" indent="0">
              <a:buNone/>
            </a:pPr>
            <a:r>
              <a:rPr lang="en-US" sz="2200" dirty="0"/>
              <a:t> </a:t>
            </a:r>
          </a:p>
          <a:p>
            <a:pPr marL="0" indent="0">
              <a:buNone/>
            </a:pPr>
            <a:endParaRPr lang="en-US" sz="22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C6CC3AA-45AB-C486-4D4A-59D328CE1D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814432" y="2565918"/>
            <a:ext cx="5998558" cy="2999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C85FF65-34FF-AB19-FED1-689A49835653}"/>
              </a:ext>
            </a:extLst>
          </p:cNvPr>
          <p:cNvSpPr txBox="1"/>
          <p:nvPr/>
        </p:nvSpPr>
        <p:spPr>
          <a:xfrm>
            <a:off x="630937" y="6092890"/>
            <a:ext cx="11084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/>
              <a:t>Analogy – maintain blue car at a </a:t>
            </a:r>
            <a:r>
              <a:rPr lang="en-US" sz="2400" b="1"/>
              <a:t>set distance</a:t>
            </a:r>
            <a:r>
              <a:rPr lang="en-US" sz="2400"/>
              <a:t> from the red car in cruise control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7AD81F-BA42-C41B-D5E0-6BC891DCE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</p:spTree>
    <p:extLst>
      <p:ext uri="{BB962C8B-B14F-4D97-AF65-F5344CB8AC3E}">
        <p14:creationId xmlns:p14="http://schemas.microsoft.com/office/powerpoint/2010/main" val="3161866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A5714-43A3-17EA-6B94-0B3268714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D2903-F01A-A6FE-FF3E-B3D8AC481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5" y="640080"/>
            <a:ext cx="10129213" cy="1481328"/>
          </a:xfrm>
        </p:spPr>
        <p:txBody>
          <a:bodyPr anchor="b">
            <a:normAutofit/>
          </a:bodyPr>
          <a:lstStyle/>
          <a:p>
            <a:r>
              <a:rPr lang="en-US" sz="4000" dirty="0"/>
              <a:t>Proportional (P) – Push harder when you are far</a:t>
            </a:r>
            <a:endParaRPr lang="en-US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901790-EF45-8470-30C0-7B0FBBFE09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0935" y="2660904"/>
                <a:ext cx="9905929" cy="3547872"/>
              </a:xfrm>
            </p:spPr>
            <p:txBody>
              <a:bodyPr anchor="t">
                <a:normAutofit fontScale="92500" lnSpcReduction="10000"/>
              </a:bodyPr>
              <a:lstStyle/>
              <a:p>
                <a:r>
                  <a:rPr lang="en-US" dirty="0"/>
                  <a:t>Big error → big correction</a:t>
                </a:r>
              </a:p>
              <a:p>
                <a:r>
                  <a:rPr lang="en-US" dirty="0"/>
                  <a:t>Small error → small correction</a:t>
                </a:r>
              </a:p>
              <a:p>
                <a:endParaRPr lang="en-US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O</m:t>
                      </m:r>
                      <m:r>
                        <m:rPr>
                          <m:nor/>
                        </m:rPr>
                        <a:rPr lang="en-US" sz="28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utput</m:t>
                      </m:r>
                      <m:r>
                        <m:rPr>
                          <m:nor/>
                        </m:rPr>
                        <a:rPr lang="en-US" sz="2800" b="0" i="1" baseline="-2500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m:rPr>
                          <m:nor/>
                        </m:rPr>
                        <a:rPr lang="en-US" sz="280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m:t> =</m:t>
                      </m:r>
                      <m:r>
                        <m:rPr>
                          <m:nor/>
                        </m:rPr>
                        <a:rPr lang="en-US" sz="28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m:t>kP</m:t>
                      </m:r>
                      <m:r>
                        <m:rPr>
                          <m:nor/>
                        </m:rPr>
                        <a:rPr lang="en-US" sz="28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m:t> ∗ </m:t>
                      </m:r>
                      <m:r>
                        <m:rPr>
                          <m:nor/>
                        </m:rPr>
                        <a:rPr lang="en-US" sz="28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m:t>error</m:t>
                      </m:r>
                    </m:oMath>
                  </m:oMathPara>
                </a14:m>
                <a:endParaRPr lang="en-US" sz="2800" dirty="0">
                  <a:solidFill>
                    <a:schemeClr val="accent2">
                      <a:lumMod val="75000"/>
                    </a:schemeClr>
                  </a:solidFill>
                </a:endParaRPr>
              </a:p>
              <a:p>
                <a:pPr marL="457200" lvl="1" indent="0">
                  <a:buNone/>
                </a:pPr>
                <a:endParaRPr lang="en-US" sz="2800" dirty="0"/>
              </a:p>
              <a:p>
                <a:r>
                  <a:rPr lang="en-US" dirty="0"/>
                  <a:t>If your robot is way off the line, P makes it turn sharply back.</a:t>
                </a:r>
              </a:p>
              <a:p>
                <a:endParaRPr lang="en-US" dirty="0"/>
              </a:p>
              <a:p>
                <a:r>
                  <a:rPr lang="en-US" dirty="0"/>
                  <a:t>Problem: P alone causes </a:t>
                </a:r>
                <a:r>
                  <a:rPr lang="en-US" b="1" dirty="0"/>
                  <a:t>overshoot &amp; oscillation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901790-EF45-8470-30C0-7B0FBBFE09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0935" y="2660904"/>
                <a:ext cx="9905929" cy="3547872"/>
              </a:xfrm>
              <a:blipFill>
                <a:blip r:embed="rId2"/>
                <a:stretch>
                  <a:fillRect l="-896" t="-32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043E16-0854-7D08-B7F8-4BF42FB5A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</p:spTree>
    <p:extLst>
      <p:ext uri="{BB962C8B-B14F-4D97-AF65-F5344CB8AC3E}">
        <p14:creationId xmlns:p14="http://schemas.microsoft.com/office/powerpoint/2010/main" val="3055883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255F1-AAEC-863C-9719-8A6BBB920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FD234-0C41-C8F3-0A0E-1354AFE05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7981436" cy="1481328"/>
          </a:xfrm>
        </p:spPr>
        <p:txBody>
          <a:bodyPr anchor="b">
            <a:normAutofit/>
          </a:bodyPr>
          <a:lstStyle/>
          <a:p>
            <a:r>
              <a:rPr lang="en-US" dirty="0"/>
              <a:t>Integral (I) – Fix Long-term Biases</a:t>
            </a:r>
            <a:endParaRPr lang="en-US" sz="5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FB076A-AF02-2FD6-751C-9E44D01906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0935" y="2660904"/>
                <a:ext cx="9905929" cy="3547872"/>
              </a:xfrm>
            </p:spPr>
            <p:txBody>
              <a:bodyPr anchor="t">
                <a:normAutofit fontScale="92500" lnSpcReduction="20000"/>
              </a:bodyPr>
              <a:lstStyle/>
              <a:p>
                <a:r>
                  <a:rPr lang="en-US" dirty="0"/>
                  <a:t>Adds up past error</a:t>
                </a:r>
              </a:p>
              <a:p>
                <a:r>
                  <a:rPr lang="en-US" dirty="0"/>
                  <a:t>Helps when robot </a:t>
                </a:r>
                <a:r>
                  <a:rPr lang="en-US" i="1" dirty="0"/>
                  <a:t>almost</a:t>
                </a:r>
                <a:r>
                  <a:rPr lang="en-US" dirty="0"/>
                  <a:t> reaches target but never quite does</a:t>
                </a:r>
              </a:p>
              <a:p>
                <a:pPr marL="457200" lvl="1" indent="0">
                  <a:buNone/>
                </a:pPr>
                <a:endParaRPr lang="en-US" sz="28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O</m:t>
                      </m:r>
                      <m:r>
                        <m:rPr>
                          <m:nor/>
                        </m:rPr>
                        <a:rPr lang="en-US" sz="28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utput</m:t>
                      </m:r>
                      <m:r>
                        <m:rPr>
                          <m:nor/>
                        </m:rPr>
                        <a:rPr lang="en-US" sz="2800" b="0" i="1" baseline="-2500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m:rPr>
                          <m:nor/>
                        </m:rPr>
                        <a:rPr lang="en-US" sz="280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m:t> =</m:t>
                      </m:r>
                      <m:r>
                        <m:rPr>
                          <m:nor/>
                        </m:rPr>
                        <a:rPr lang="en-US" sz="28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m:t>kI</m:t>
                      </m:r>
                      <m:r>
                        <m:rPr>
                          <m:nor/>
                        </m:rPr>
                        <a:rPr lang="en-US" sz="28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m:t> ∗</m:t>
                      </m:r>
                      <m:r>
                        <m:rPr>
                          <m:nor/>
                        </m:rPr>
                        <a:rPr lang="en-US" sz="2800" b="0" i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m:t>∑</m:t>
                      </m:r>
                      <m:r>
                        <m:rPr>
                          <m:nor/>
                        </m:rPr>
                        <a:rPr lang="en-US" sz="2800" b="0" i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0" i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m:t>error</m:t>
                      </m:r>
                    </m:oMath>
                  </m:oMathPara>
                </a14:m>
                <a:endParaRPr lang="en-US" sz="2800" dirty="0">
                  <a:solidFill>
                    <a:schemeClr val="accent2">
                      <a:lumMod val="75000"/>
                    </a:schemeClr>
                  </a:solidFill>
                </a:endParaRPr>
              </a:p>
              <a:p>
                <a:pPr marL="457200" lvl="1" indent="0">
                  <a:buNone/>
                </a:pPr>
                <a:endParaRPr lang="en-US" sz="2800" dirty="0"/>
              </a:p>
              <a:p>
                <a:r>
                  <a:rPr lang="en-US" dirty="0"/>
                  <a:t>Arm stops slightly below target every time. I slowly increases power to eliminate that gap</a:t>
                </a:r>
              </a:p>
              <a:p>
                <a:endParaRPr lang="en-US" dirty="0"/>
              </a:p>
              <a:p>
                <a:r>
                  <a:rPr lang="en-US" dirty="0"/>
                  <a:t>Problem: Too much I = robot goes crazy after delay.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FB076A-AF02-2FD6-751C-9E44D01906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0935" y="2660904"/>
                <a:ext cx="9905929" cy="3547872"/>
              </a:xfrm>
              <a:blipFill>
                <a:blip r:embed="rId2"/>
                <a:stretch>
                  <a:fillRect l="-896" t="-4270" r="-16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232838-7443-7B44-9305-CB7245E84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</p:spTree>
    <p:extLst>
      <p:ext uri="{BB962C8B-B14F-4D97-AF65-F5344CB8AC3E}">
        <p14:creationId xmlns:p14="http://schemas.microsoft.com/office/powerpoint/2010/main" val="38294432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2954D-70EC-DB0C-2B65-B3A6D33BE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106CE-EE3C-97CC-B8C5-A75423FBB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8172822" cy="1481328"/>
          </a:xfrm>
        </p:spPr>
        <p:txBody>
          <a:bodyPr anchor="b">
            <a:normAutofit/>
          </a:bodyPr>
          <a:lstStyle/>
          <a:p>
            <a:r>
              <a:rPr lang="en-US" dirty="0"/>
              <a:t>Derivative (D) – The Brake Pedal</a:t>
            </a:r>
            <a:endParaRPr lang="en-US" sz="5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2F4C4F-A19E-AE47-D7D4-A73FC92124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0935" y="2660904"/>
                <a:ext cx="9905929" cy="3547872"/>
              </a:xfrm>
            </p:spPr>
            <p:txBody>
              <a:bodyPr anchor="t">
                <a:normAutofit/>
              </a:bodyPr>
              <a:lstStyle/>
              <a:p>
                <a:r>
                  <a:rPr lang="en-US" dirty="0"/>
                  <a:t>Looks at </a:t>
                </a:r>
                <a:r>
                  <a:rPr lang="en-US" b="1" dirty="0"/>
                  <a:t>how fast</a:t>
                </a:r>
                <a:r>
                  <a:rPr lang="en-US" dirty="0"/>
                  <a:t> error is changing</a:t>
                </a:r>
              </a:p>
              <a:p>
                <a:r>
                  <a:rPr lang="en-US" dirty="0"/>
                  <a:t>Slows the robot as it approaches target</a:t>
                </a:r>
              </a:p>
              <a:p>
                <a:pPr lvl="1"/>
                <a:endParaRPr lang="en-US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Output</m:t>
                      </m:r>
                      <m:r>
                        <m:rPr>
                          <m:nor/>
                        </m:rPr>
                        <a:rPr lang="en-US" i="1" baseline="-2500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m:rPr>
                          <m:nor/>
                        </m:rPr>
                        <a:rPr lang="en-US" i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m:t> = </m:t>
                      </m:r>
                      <m:r>
                        <m:rPr>
                          <m:nor/>
                        </m:rPr>
                        <a:rPr lang="en-US" i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m:t>kD</m:t>
                      </m:r>
                      <m:r>
                        <m:rPr>
                          <m:nor/>
                        </m:rPr>
                        <a:rPr lang="en-US" i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m:t> ∗ (</m:t>
                      </m:r>
                      <m:r>
                        <m:rPr>
                          <m:nor/>
                        </m:rP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m:t>change</m:t>
                      </m:r>
                      <m:r>
                        <m:rPr>
                          <m:nor/>
                        </m:rP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m:t>in</m:t>
                      </m:r>
                      <m:r>
                        <m:rPr>
                          <m:nor/>
                        </m:rP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m:t>error</m:t>
                      </m:r>
                      <m:r>
                        <m:rPr>
                          <m:nor/>
                        </m:rP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accent2">
                      <a:lumMod val="75000"/>
                    </a:schemeClr>
                  </a:solidFill>
                </a:endParaRPr>
              </a:p>
              <a:p>
                <a:pPr marL="457200" lvl="1" indent="0">
                  <a:buNone/>
                </a:pPr>
                <a:endParaRPr lang="en-US" sz="2800" dirty="0"/>
              </a:p>
              <a:p>
                <a:r>
                  <a:rPr lang="en-US" dirty="0"/>
                  <a:t>Without D: robot slams past target. With D: robot slows before reaching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2F4C4F-A19E-AE47-D7D4-A73FC92124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0935" y="2660904"/>
                <a:ext cx="9905929" cy="3547872"/>
              </a:xfrm>
              <a:blipFill>
                <a:blip r:embed="rId2"/>
                <a:stretch>
                  <a:fillRect l="-1024" t="-2847" r="-16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AD39C4-254E-2598-0443-0C3B29CB6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</p:spTree>
    <p:extLst>
      <p:ext uri="{BB962C8B-B14F-4D97-AF65-F5344CB8AC3E}">
        <p14:creationId xmlns:p14="http://schemas.microsoft.com/office/powerpoint/2010/main" val="678185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910B3-CCB0-8560-B457-2FF78C3AA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4800"/>
              <a:t>PID Equation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BD4C72-7F83-FBC6-737C-4B00E99E1D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968" y="6232103"/>
            <a:ext cx="7681350" cy="1105393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800" dirty="0"/>
              <a:t>e(t) = error   &amp;   </a:t>
            </a:r>
            <a:r>
              <a:rPr lang="en-US" sz="1800" dirty="0" err="1"/>
              <a:t>K</a:t>
            </a:r>
            <a:r>
              <a:rPr lang="en-US" sz="1800" baseline="-25000" dirty="0" err="1"/>
              <a:t>p</a:t>
            </a:r>
            <a:r>
              <a:rPr lang="en-US" sz="1800" dirty="0"/>
              <a:t>, K</a:t>
            </a:r>
            <a:r>
              <a:rPr lang="en-US" sz="1800" baseline="-25000" dirty="0"/>
              <a:t>i</a:t>
            </a:r>
            <a:r>
              <a:rPr lang="en-US" sz="1800" dirty="0"/>
              <a:t>, </a:t>
            </a:r>
            <a:r>
              <a:rPr lang="en-US" sz="1800" dirty="0" err="1"/>
              <a:t>K</a:t>
            </a:r>
            <a:r>
              <a:rPr lang="en-US" sz="1800" baseline="-25000" dirty="0" err="1"/>
              <a:t>d</a:t>
            </a:r>
            <a:r>
              <a:rPr lang="en-US" sz="1800" dirty="0"/>
              <a:t> = tuning constants</a:t>
            </a:r>
          </a:p>
        </p:txBody>
      </p:sp>
      <p:pic>
        <p:nvPicPr>
          <p:cNvPr id="2052" name="Picture 4" descr="Driver PID Settings">
            <a:extLst>
              <a:ext uri="{FF2B5EF4-FFF2-40B4-BE49-F238E27FC236}">
                <a16:creationId xmlns:a16="http://schemas.microsoft.com/office/drawing/2014/main" id="{6134A08A-8226-0537-4C44-F683539D15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77137" y="2682519"/>
            <a:ext cx="7150373" cy="2967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goBilda's 5203 Series Yellow Jacket Planetary Gear Motor (13.7:1 Ratio –  Y-Robots? Store">
            <a:extLst>
              <a:ext uri="{FF2B5EF4-FFF2-40B4-BE49-F238E27FC236}">
                <a16:creationId xmlns:a16="http://schemas.microsoft.com/office/drawing/2014/main" id="{7486C840-243D-478A-FB28-51C5AB1037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91" r="22479" b="36867"/>
          <a:stretch>
            <a:fillRect/>
          </a:stretch>
        </p:blipFill>
        <p:spPr bwMode="auto">
          <a:xfrm>
            <a:off x="8052319" y="1378863"/>
            <a:ext cx="1723555" cy="2017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LaserCam 4: Photo/Video LIDAR (Laser) Camera for Police">
            <a:extLst>
              <a:ext uri="{FF2B5EF4-FFF2-40B4-BE49-F238E27FC236}">
                <a16:creationId xmlns:a16="http://schemas.microsoft.com/office/drawing/2014/main" id="{5072BBD7-170D-6125-E243-5D51E36B8E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990"/>
          <a:stretch>
            <a:fillRect/>
          </a:stretch>
        </p:blipFill>
        <p:spPr bwMode="auto">
          <a:xfrm>
            <a:off x="9039286" y="5115806"/>
            <a:ext cx="2210598" cy="1193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378BB5-0EE5-7F0E-00E8-9ACE4C4C5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</p:spTree>
    <p:extLst>
      <p:ext uri="{BB962C8B-B14F-4D97-AF65-F5344CB8AC3E}">
        <p14:creationId xmlns:p14="http://schemas.microsoft.com/office/powerpoint/2010/main" val="2327578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14CA7-2A4A-D2FA-77A0-70A23F19B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7EBD0-E8B5-C787-3B06-50E7A180E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8172822" cy="1481328"/>
          </a:xfrm>
        </p:spPr>
        <p:txBody>
          <a:bodyPr anchor="b">
            <a:normAutofit/>
          </a:bodyPr>
          <a:lstStyle/>
          <a:p>
            <a:r>
              <a:rPr lang="en-US" dirty="0"/>
              <a:t>PID Equation</a:t>
            </a:r>
            <a:endParaRPr lang="en-US" sz="5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530775-F3F0-AEE6-59A9-5FE4B37CEB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0935" y="2660904"/>
                <a:ext cx="10554516" cy="3547872"/>
              </a:xfrm>
            </p:spPr>
            <p:txBody>
              <a:bodyPr anchor="t">
                <a:normAutofit/>
              </a:bodyPr>
              <a:lstStyle/>
              <a:p>
                <a:pPr marL="0" indent="0">
                  <a:buNone/>
                </a:pPr>
                <a:endParaRPr lang="en-US" sz="2400" i="1" dirty="0">
                  <a:solidFill>
                    <a:schemeClr val="accent2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400" i="1" dirty="0">
                  <a:solidFill>
                    <a:schemeClr val="accent2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36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</m:t>
                      </m:r>
                      <m:r>
                        <m:rPr>
                          <m:nor/>
                        </m:rPr>
                        <a:rPr lang="en-US" sz="360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utput</m:t>
                      </m:r>
                      <m:r>
                        <m:rPr>
                          <m:nor/>
                        </m:rPr>
                        <a:rPr lang="en-US" sz="360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= </m:t>
                      </m:r>
                      <m:r>
                        <m:rPr>
                          <m:nor/>
                        </m:rPr>
                        <a:rPr lang="en-US" sz="360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kP</m:t>
                      </m:r>
                      <m:r>
                        <m:rPr>
                          <m:nor/>
                        </m:rPr>
                        <a:rPr lang="en-US" sz="36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360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m:rPr>
                          <m:nor/>
                        </m:rPr>
                        <a:rPr lang="en-US" sz="36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36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error</m:t>
                      </m:r>
                      <m:r>
                        <m:rPr>
                          <m:nor/>
                        </m:rPr>
                        <a:rPr lang="en-US" sz="36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en-US" sz="36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kI</m:t>
                      </m:r>
                      <m:r>
                        <m:rPr>
                          <m:nor/>
                        </m:rPr>
                        <a:rPr lang="en-US" sz="36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⋅ ∑ </m:t>
                      </m:r>
                      <m:r>
                        <m:rPr>
                          <m:nor/>
                        </m:rPr>
                        <a:rPr lang="en-US" sz="36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error</m:t>
                      </m:r>
                      <m:r>
                        <m:rPr>
                          <m:nor/>
                        </m:rPr>
                        <a:rPr lang="en-US" sz="36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en-US" sz="36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kD</m:t>
                      </m:r>
                      <m:r>
                        <m:rPr>
                          <m:nor/>
                        </m:rPr>
                        <a:rPr lang="en-US" sz="36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⋅ </m:t>
                      </m:r>
                      <m:r>
                        <m:rPr>
                          <m:nor/>
                        </m:rPr>
                        <a:rPr lang="el-GR" sz="360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m:rPr>
                          <m:nor/>
                        </m:rPr>
                        <a:rPr lang="en-US" sz="36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360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erro</m:t>
                      </m:r>
                      <m:r>
                        <m:rPr>
                          <m:nor/>
                        </m:rPr>
                        <a:rPr lang="en-US" sz="360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m:t>r</m:t>
                      </m:r>
                    </m:oMath>
                  </m:oMathPara>
                </a14:m>
                <a:endParaRPr lang="en-US" sz="2400" i="1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530775-F3F0-AEE6-59A9-5FE4B37CEB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0935" y="2660904"/>
                <a:ext cx="10554516" cy="3547872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151730-17BA-C8E5-6824-564C54E1E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</p:spTree>
    <p:extLst>
      <p:ext uri="{BB962C8B-B14F-4D97-AF65-F5344CB8AC3E}">
        <p14:creationId xmlns:p14="http://schemas.microsoft.com/office/powerpoint/2010/main" val="3979039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DD14C-87F1-E385-A8EA-AF0B94CC4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0A08E-726C-F9EA-B013-C2082D653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8172822" cy="1481328"/>
          </a:xfrm>
        </p:spPr>
        <p:txBody>
          <a:bodyPr anchor="b">
            <a:normAutofit/>
          </a:bodyPr>
          <a:lstStyle/>
          <a:p>
            <a:r>
              <a:rPr lang="en-US" dirty="0"/>
              <a:t>PID in FTCLib</a:t>
            </a:r>
            <a:endParaRPr lang="en-US" sz="5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94DE84-FC76-A21B-7739-8913404AAC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892" y="3047816"/>
            <a:ext cx="11200319" cy="1795703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347CA2-AF67-DB32-E2BB-5ABE15C6C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</p:spTree>
    <p:extLst>
      <p:ext uri="{BB962C8B-B14F-4D97-AF65-F5344CB8AC3E}">
        <p14:creationId xmlns:p14="http://schemas.microsoft.com/office/powerpoint/2010/main" val="21654035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6FD23-4779-ED0D-545B-BC4785D9A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AC2B8-9123-E2C4-886C-9C5081507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8172822" cy="1481328"/>
          </a:xfrm>
        </p:spPr>
        <p:txBody>
          <a:bodyPr anchor="b">
            <a:normAutofit/>
          </a:bodyPr>
          <a:lstStyle/>
          <a:p>
            <a:r>
              <a:rPr lang="en-US" dirty="0"/>
              <a:t>Where to use PID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14746-BCA9-8CE2-6878-153F2E2FD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5" y="2660904"/>
            <a:ext cx="9905929" cy="3547872"/>
          </a:xfrm>
        </p:spPr>
        <p:txBody>
          <a:bodyPr anchor="t">
            <a:normAutofit/>
          </a:bodyPr>
          <a:lstStyle/>
          <a:p>
            <a:r>
              <a:rPr lang="en-US" dirty="0"/>
              <a:t>Arm position</a:t>
            </a:r>
          </a:p>
          <a:p>
            <a:r>
              <a:rPr lang="en-US" dirty="0"/>
              <a:t>Slides</a:t>
            </a:r>
          </a:p>
          <a:p>
            <a:r>
              <a:rPr lang="en-US" dirty="0"/>
              <a:t>Heading hold (gyro)</a:t>
            </a:r>
          </a:p>
          <a:p>
            <a:r>
              <a:rPr lang="en-US" dirty="0"/>
              <a:t>Driving straight</a:t>
            </a:r>
          </a:p>
          <a:p>
            <a:r>
              <a:rPr lang="en-US" dirty="0"/>
              <a:t>April Tag alignment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230370-ABD8-5728-A199-302EB62AA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</p:spTree>
    <p:extLst>
      <p:ext uri="{BB962C8B-B14F-4D97-AF65-F5344CB8AC3E}">
        <p14:creationId xmlns:p14="http://schemas.microsoft.com/office/powerpoint/2010/main" val="11991733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967E3-2EE8-8630-F8EA-80B6CAF0B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66234-9090-A190-0CB4-DC27C38B3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8172822" cy="1481328"/>
          </a:xfrm>
        </p:spPr>
        <p:txBody>
          <a:bodyPr anchor="b">
            <a:normAutofit/>
          </a:bodyPr>
          <a:lstStyle/>
          <a:p>
            <a:r>
              <a:rPr lang="en-US" dirty="0"/>
              <a:t>PID Tuning - Steps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C5FE5-5090-03F2-4078-E93ECB08E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5" y="2660904"/>
            <a:ext cx="9905929" cy="3547872"/>
          </a:xfrm>
        </p:spPr>
        <p:txBody>
          <a:bodyPr anchor="t">
            <a:normAutofit/>
          </a:bodyPr>
          <a:lstStyle/>
          <a:p>
            <a:pPr marL="514350" indent="-514350">
              <a:buAutoNum type="arabicPeriod"/>
            </a:pPr>
            <a:r>
              <a:rPr lang="en-US" dirty="0"/>
              <a:t>Start with P only</a:t>
            </a:r>
          </a:p>
          <a:p>
            <a:pPr marL="514350" indent="-514350">
              <a:buAutoNum type="arabicPeriod"/>
            </a:pPr>
            <a:r>
              <a:rPr lang="en-US" dirty="0"/>
              <a:t>Increase P until oscillation</a:t>
            </a:r>
          </a:p>
          <a:p>
            <a:pPr marL="514350" indent="-514350">
              <a:buAutoNum type="arabicPeriod"/>
            </a:pPr>
            <a:r>
              <a:rPr lang="en-US" dirty="0"/>
              <a:t>Add D to reduce oscillation</a:t>
            </a:r>
          </a:p>
          <a:p>
            <a:pPr marL="514350" indent="-514350">
              <a:buAutoNum type="arabicPeriod"/>
            </a:pPr>
            <a:r>
              <a:rPr lang="en-US" dirty="0"/>
              <a:t>Add small I only if needed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052A68-A8D0-93DE-8FC3-FDB59E06E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Mission to Mars – Build Your Own Robotic Rover © 2026 Arun Abraham. Free for non-commercial educational use. See MMCL-1.1 for licensing details.</a:t>
            </a:r>
          </a:p>
        </p:txBody>
      </p:sp>
    </p:spTree>
    <p:extLst>
      <p:ext uri="{BB962C8B-B14F-4D97-AF65-F5344CB8AC3E}">
        <p14:creationId xmlns:p14="http://schemas.microsoft.com/office/powerpoint/2010/main" val="22988527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692</Words>
  <Application>Microsoft Macintosh PowerPoint</Application>
  <PresentationFormat>Widescreen</PresentationFormat>
  <Paragraphs>82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Cambria Math</vt:lpstr>
      <vt:lpstr>office theme</vt:lpstr>
      <vt:lpstr>PID Controllers</vt:lpstr>
      <vt:lpstr>Why Control Systems Matter</vt:lpstr>
      <vt:lpstr>Errors in a System</vt:lpstr>
      <vt:lpstr>PID</vt:lpstr>
      <vt:lpstr>Proportional (P) – Push harder when you are far</vt:lpstr>
      <vt:lpstr>Integral (I) – Fix Long-term Biases</vt:lpstr>
      <vt:lpstr>Derivative (D) – The Brake Pedal</vt:lpstr>
      <vt:lpstr>PID Equation</vt:lpstr>
      <vt:lpstr>PID Equation</vt:lpstr>
      <vt:lpstr>PID in FTCLib</vt:lpstr>
      <vt:lpstr>Where to use PID</vt:lpstr>
      <vt:lpstr>PID Tuning -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Aarush Abraham</cp:lastModifiedBy>
  <cp:revision>4</cp:revision>
  <dcterms:created xsi:type="dcterms:W3CDTF">2025-05-22T02:49:09Z</dcterms:created>
  <dcterms:modified xsi:type="dcterms:W3CDTF">2026-02-11T04:01:09Z</dcterms:modified>
</cp:coreProperties>
</file>